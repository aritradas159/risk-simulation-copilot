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8288000" cy="10287000"/>
  <p:notesSz cx="6858000" cy="9144000"/>
  <p:embeddedFontLst>
    <p:embeddedFont>
      <p:font typeface="Aileron" panose="020B0604020202020204" charset="0"/>
      <p:regular r:id="rId13"/>
    </p:embeddedFont>
    <p:embeddedFont>
      <p:font typeface="Aileron Bold" panose="020B0604020202020204" charset="0"/>
      <p:regular r:id="rId14"/>
    </p:embeddedFont>
    <p:embeddedFont>
      <p:font typeface="Canva San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AC31B7-F849-42A9-8DB4-B69B1F348A8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B4677-7CF0-4215-B5D6-85EEC0CB6F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06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03292" y="7384027"/>
            <a:ext cx="3740094" cy="2674264"/>
          </a:xfrm>
          <a:custGeom>
            <a:avLst/>
            <a:gdLst/>
            <a:ahLst/>
            <a:cxnLst/>
            <a:rect l="l" t="t" r="r" b="b"/>
            <a:pathLst>
              <a:path w="3740094" h="2674264">
                <a:moveTo>
                  <a:pt x="0" y="0"/>
                </a:moveTo>
                <a:lnTo>
                  <a:pt x="3740094" y="0"/>
                </a:lnTo>
                <a:lnTo>
                  <a:pt x="3740094" y="2674264"/>
                </a:lnTo>
                <a:lnTo>
                  <a:pt x="0" y="267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67881" y="228709"/>
            <a:ext cx="4235411" cy="3342124"/>
          </a:xfrm>
          <a:custGeom>
            <a:avLst/>
            <a:gdLst/>
            <a:ahLst/>
            <a:cxnLst/>
            <a:rect l="l" t="t" r="r" b="b"/>
            <a:pathLst>
              <a:path w="4235411" h="3342124">
                <a:moveTo>
                  <a:pt x="0" y="0"/>
                </a:moveTo>
                <a:lnTo>
                  <a:pt x="4235411" y="0"/>
                </a:lnTo>
                <a:lnTo>
                  <a:pt x="4235411" y="3342124"/>
                </a:lnTo>
                <a:lnTo>
                  <a:pt x="0" y="3342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5017096" y="4092597"/>
            <a:ext cx="4304351" cy="2152176"/>
          </a:xfrm>
          <a:custGeom>
            <a:avLst/>
            <a:gdLst/>
            <a:ahLst/>
            <a:cxnLst/>
            <a:rect l="l" t="t" r="r" b="b"/>
            <a:pathLst>
              <a:path w="4304351" h="2152176">
                <a:moveTo>
                  <a:pt x="0" y="0"/>
                </a:moveTo>
                <a:lnTo>
                  <a:pt x="4304351" y="0"/>
                </a:lnTo>
                <a:lnTo>
                  <a:pt x="4304351" y="2152176"/>
                </a:lnTo>
                <a:lnTo>
                  <a:pt x="0" y="2152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11936" y="889874"/>
            <a:ext cx="3258204" cy="3121951"/>
          </a:xfrm>
          <a:custGeom>
            <a:avLst/>
            <a:gdLst/>
            <a:ahLst/>
            <a:cxnLst/>
            <a:rect l="l" t="t" r="r" b="b"/>
            <a:pathLst>
              <a:path w="3258204" h="3121951">
                <a:moveTo>
                  <a:pt x="0" y="0"/>
                </a:moveTo>
                <a:lnTo>
                  <a:pt x="3258204" y="0"/>
                </a:lnTo>
                <a:lnTo>
                  <a:pt x="3258204" y="3121951"/>
                </a:lnTo>
                <a:lnTo>
                  <a:pt x="0" y="31219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911267" y="4386130"/>
            <a:ext cx="3620243" cy="3126574"/>
          </a:xfrm>
          <a:custGeom>
            <a:avLst/>
            <a:gdLst/>
            <a:ahLst/>
            <a:cxnLst/>
            <a:rect l="l" t="t" r="r" b="b"/>
            <a:pathLst>
              <a:path w="3620243" h="3126574">
                <a:moveTo>
                  <a:pt x="0" y="0"/>
                </a:moveTo>
                <a:lnTo>
                  <a:pt x="3620243" y="0"/>
                </a:lnTo>
                <a:lnTo>
                  <a:pt x="3620243" y="3126574"/>
                </a:lnTo>
                <a:lnTo>
                  <a:pt x="0" y="3126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833475" y="8042251"/>
            <a:ext cx="4304351" cy="2152176"/>
          </a:xfrm>
          <a:custGeom>
            <a:avLst/>
            <a:gdLst/>
            <a:ahLst/>
            <a:cxnLst/>
            <a:rect l="l" t="t" r="r" b="b"/>
            <a:pathLst>
              <a:path w="4304351" h="2152176">
                <a:moveTo>
                  <a:pt x="0" y="0"/>
                </a:moveTo>
                <a:lnTo>
                  <a:pt x="4304351" y="0"/>
                </a:lnTo>
                <a:lnTo>
                  <a:pt x="4304351" y="2152175"/>
                </a:lnTo>
                <a:lnTo>
                  <a:pt x="0" y="2152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76522" y="7295676"/>
            <a:ext cx="6561603" cy="1180103"/>
            <a:chOff x="0" y="0"/>
            <a:chExt cx="1728159" cy="3108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28159" cy="310809"/>
            </a:xfrm>
            <a:custGeom>
              <a:avLst/>
              <a:gdLst/>
              <a:ahLst/>
              <a:cxnLst/>
              <a:rect l="l" t="t" r="r" b="b"/>
              <a:pathLst>
                <a:path w="1728159" h="310809">
                  <a:moveTo>
                    <a:pt x="23598" y="0"/>
                  </a:moveTo>
                  <a:lnTo>
                    <a:pt x="1704561" y="0"/>
                  </a:lnTo>
                  <a:cubicBezTo>
                    <a:pt x="1710820" y="0"/>
                    <a:pt x="1716822" y="2486"/>
                    <a:pt x="1721247" y="6912"/>
                  </a:cubicBezTo>
                  <a:cubicBezTo>
                    <a:pt x="1725673" y="11337"/>
                    <a:pt x="1728159" y="17339"/>
                    <a:pt x="1728159" y="23598"/>
                  </a:cubicBezTo>
                  <a:lnTo>
                    <a:pt x="1728159" y="287211"/>
                  </a:lnTo>
                  <a:cubicBezTo>
                    <a:pt x="1728159" y="293470"/>
                    <a:pt x="1725673" y="299472"/>
                    <a:pt x="1721247" y="303897"/>
                  </a:cubicBezTo>
                  <a:cubicBezTo>
                    <a:pt x="1716822" y="308323"/>
                    <a:pt x="1710820" y="310809"/>
                    <a:pt x="1704561" y="310809"/>
                  </a:cubicBezTo>
                  <a:lnTo>
                    <a:pt x="23598" y="310809"/>
                  </a:lnTo>
                  <a:cubicBezTo>
                    <a:pt x="17339" y="310809"/>
                    <a:pt x="11337" y="308323"/>
                    <a:pt x="6912" y="303897"/>
                  </a:cubicBezTo>
                  <a:cubicBezTo>
                    <a:pt x="2486" y="299472"/>
                    <a:pt x="0" y="293470"/>
                    <a:pt x="0" y="287211"/>
                  </a:cubicBezTo>
                  <a:lnTo>
                    <a:pt x="0" y="23598"/>
                  </a:lnTo>
                  <a:cubicBezTo>
                    <a:pt x="0" y="17339"/>
                    <a:pt x="2486" y="11337"/>
                    <a:pt x="6912" y="6912"/>
                  </a:cubicBezTo>
                  <a:cubicBezTo>
                    <a:pt x="11337" y="2486"/>
                    <a:pt x="17339" y="0"/>
                    <a:pt x="23598" y="0"/>
                  </a:cubicBezTo>
                  <a:close/>
                </a:path>
              </a:pathLst>
            </a:custGeom>
            <a:solidFill>
              <a:srgbClr val="55D87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728159" cy="367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57753" y="8534182"/>
            <a:ext cx="47625" cy="1000562"/>
            <a:chOff x="0" y="0"/>
            <a:chExt cx="12543" cy="2635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43" cy="263523"/>
            </a:xfrm>
            <a:custGeom>
              <a:avLst/>
              <a:gdLst/>
              <a:ahLst/>
              <a:cxnLst/>
              <a:rect l="l" t="t" r="r" b="b"/>
              <a:pathLst>
                <a:path w="12543" h="26352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257251"/>
                  </a:lnTo>
                  <a:cubicBezTo>
                    <a:pt x="12543" y="258914"/>
                    <a:pt x="11882" y="260509"/>
                    <a:pt x="10706" y="261686"/>
                  </a:cubicBezTo>
                  <a:cubicBezTo>
                    <a:pt x="9530" y="262862"/>
                    <a:pt x="7935" y="263523"/>
                    <a:pt x="6272" y="263523"/>
                  </a:cubicBezTo>
                  <a:lnTo>
                    <a:pt x="6272" y="263523"/>
                  </a:lnTo>
                  <a:cubicBezTo>
                    <a:pt x="4608" y="263523"/>
                    <a:pt x="3013" y="262862"/>
                    <a:pt x="1837" y="261686"/>
                  </a:cubicBezTo>
                  <a:cubicBezTo>
                    <a:pt x="661" y="260509"/>
                    <a:pt x="0" y="258914"/>
                    <a:pt x="0" y="257251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9326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2543" cy="320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00950" y="3600450"/>
            <a:ext cx="3086100" cy="30861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326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88443" y="2016118"/>
            <a:ext cx="8355557" cy="2467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4"/>
              </a:lnSpc>
            </a:pPr>
            <a:r>
              <a:rPr lang="en-US" sz="44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Aileron Bold"/>
                <a:sym typeface="Aileron Bold"/>
              </a:rPr>
              <a:t>INVESTMENT LITERACY &amp; RISK COPILOT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5475" y="7293120"/>
            <a:ext cx="6138725" cy="1026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30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Aileron Bold"/>
                <a:sym typeface="Aileron Bold"/>
              </a:rPr>
              <a:t>ARITRA DAS </a:t>
            </a:r>
          </a:p>
          <a:p>
            <a:pPr algn="just">
              <a:lnSpc>
                <a:spcPts val="4060"/>
              </a:lnSpc>
            </a:pPr>
            <a:r>
              <a:rPr lang="en-US" sz="30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Aileron Bold"/>
                <a:sym typeface="Aileron Bold"/>
              </a:rPr>
              <a:t> VAISHNAVI SRIRAM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1345" y="3349909"/>
            <a:ext cx="7739978" cy="1381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62"/>
              </a:lnSpc>
            </a:pPr>
            <a:r>
              <a:rPr lang="en-US" sz="72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Aileron Bold"/>
                <a:sym typeface="Aileron Bold"/>
              </a:rPr>
              <a:t>CONTENTS</a:t>
            </a:r>
          </a:p>
        </p:txBody>
      </p:sp>
      <p:sp>
        <p:nvSpPr>
          <p:cNvPr id="3" name="Freeform 3"/>
          <p:cNvSpPr/>
          <p:nvPr/>
        </p:nvSpPr>
        <p:spPr>
          <a:xfrm>
            <a:off x="1681510" y="5391519"/>
            <a:ext cx="5267658" cy="4749254"/>
          </a:xfrm>
          <a:custGeom>
            <a:avLst/>
            <a:gdLst/>
            <a:ahLst/>
            <a:cxnLst/>
            <a:rect l="l" t="t" r="r" b="b"/>
            <a:pathLst>
              <a:path w="5267658" h="4749254">
                <a:moveTo>
                  <a:pt x="0" y="0"/>
                </a:moveTo>
                <a:lnTo>
                  <a:pt x="5267658" y="0"/>
                </a:lnTo>
                <a:lnTo>
                  <a:pt x="5267658" y="4749254"/>
                </a:lnTo>
                <a:lnTo>
                  <a:pt x="0" y="4749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441345" y="219803"/>
            <a:ext cx="4304351" cy="2152176"/>
          </a:xfrm>
          <a:custGeom>
            <a:avLst/>
            <a:gdLst/>
            <a:ahLst/>
            <a:cxnLst/>
            <a:rect l="l" t="t" r="r" b="b"/>
            <a:pathLst>
              <a:path w="4304351" h="2152176">
                <a:moveTo>
                  <a:pt x="0" y="2152176"/>
                </a:moveTo>
                <a:lnTo>
                  <a:pt x="4304351" y="2152176"/>
                </a:lnTo>
                <a:lnTo>
                  <a:pt x="4304351" y="0"/>
                </a:lnTo>
                <a:lnTo>
                  <a:pt x="0" y="0"/>
                </a:lnTo>
                <a:lnTo>
                  <a:pt x="0" y="215217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959139" y="3860058"/>
            <a:ext cx="4304351" cy="2152176"/>
          </a:xfrm>
          <a:custGeom>
            <a:avLst/>
            <a:gdLst/>
            <a:ahLst/>
            <a:cxnLst/>
            <a:rect l="l" t="t" r="r" b="b"/>
            <a:pathLst>
              <a:path w="4304351" h="2152176">
                <a:moveTo>
                  <a:pt x="0" y="0"/>
                </a:moveTo>
                <a:lnTo>
                  <a:pt x="4304351" y="0"/>
                </a:lnTo>
                <a:lnTo>
                  <a:pt x="4304351" y="2152176"/>
                </a:lnTo>
                <a:lnTo>
                  <a:pt x="0" y="2152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8768678" y="1689146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8768678" y="2831596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8768678" y="391303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8768678" y="4916576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8768678" y="595011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3895370" y="952500"/>
            <a:ext cx="1365548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02377" y="1127891"/>
            <a:ext cx="497028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Aileron"/>
                <a:sym typeface="Aileron"/>
              </a:rPr>
              <a:t>Problem Statement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95370" y="2146431"/>
            <a:ext cx="1365548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02377" y="2194056"/>
            <a:ext cx="497028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ptos" panose="020B0004020202020204" pitchFamily="34" charset="0"/>
                <a:sym typeface="Aileron"/>
              </a:rPr>
              <a:t>Proposed</a:t>
            </a:r>
            <a:r>
              <a:rPr lang="en-US" sz="3399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Aileron"/>
                <a:sym typeface="Aileron"/>
              </a:rPr>
              <a:t> Solution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95370" y="3323120"/>
            <a:ext cx="1365548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02377" y="3275495"/>
            <a:ext cx="497028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Aileron"/>
                <a:sym typeface="Aileron"/>
              </a:rPr>
              <a:t>Key Features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95370" y="4427385"/>
            <a:ext cx="1365548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02377" y="4170527"/>
            <a:ext cx="497028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Aileron"/>
                <a:sym typeface="Aileron"/>
              </a:rPr>
              <a:t>Technology Stack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95370" y="5379250"/>
            <a:ext cx="1365548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02377" y="5264950"/>
            <a:ext cx="497028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Aileron"/>
                <a:sym typeface="Aileron"/>
              </a:rPr>
              <a:t>Expected Impact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768678" y="690261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8768678" y="776433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9002377" y="6215875"/>
            <a:ext cx="5300000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Aileron"/>
                <a:sym typeface="Aileron"/>
              </a:rPr>
              <a:t>Uniqueness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78144" y="6215875"/>
            <a:ext cx="824397" cy="59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6"/>
              </a:lnSpc>
              <a:spcBef>
                <a:spcPct val="0"/>
              </a:spcBef>
            </a:pPr>
            <a:r>
              <a:rPr lang="en-US" sz="346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02377" y="7150265"/>
            <a:ext cx="5300000" cy="56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8"/>
              </a:lnSpc>
              <a:spcBef>
                <a:spcPct val="0"/>
              </a:spcBef>
            </a:pPr>
            <a:r>
              <a:rPr lang="en-US" sz="3277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Aileron"/>
                <a:sym typeface="Aileron"/>
              </a:rPr>
              <a:t>Project Roadmap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740064" y="7122192"/>
            <a:ext cx="662477" cy="561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6"/>
              </a:lnSpc>
              <a:spcBef>
                <a:spcPct val="0"/>
              </a:spcBef>
            </a:pPr>
            <a:r>
              <a:rPr lang="en-US" sz="3397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09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6400" y="1212104"/>
            <a:ext cx="10800000" cy="1509406"/>
            <a:chOff x="0" y="0"/>
            <a:chExt cx="1959341" cy="282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9341" cy="282037"/>
            </a:xfrm>
            <a:custGeom>
              <a:avLst/>
              <a:gdLst/>
              <a:ahLst/>
              <a:cxnLst/>
              <a:rect l="l" t="t" r="r" b="b"/>
              <a:pathLst>
                <a:path w="1959341" h="282037">
                  <a:moveTo>
                    <a:pt x="14351" y="0"/>
                  </a:moveTo>
                  <a:lnTo>
                    <a:pt x="1944990" y="0"/>
                  </a:lnTo>
                  <a:cubicBezTo>
                    <a:pt x="1952916" y="0"/>
                    <a:pt x="1959341" y="6425"/>
                    <a:pt x="1959341" y="14351"/>
                  </a:cubicBezTo>
                  <a:lnTo>
                    <a:pt x="1959341" y="267686"/>
                  </a:lnTo>
                  <a:cubicBezTo>
                    <a:pt x="1959341" y="275612"/>
                    <a:pt x="1952916" y="282037"/>
                    <a:pt x="1944990" y="282037"/>
                  </a:cubicBezTo>
                  <a:lnTo>
                    <a:pt x="14351" y="282037"/>
                  </a:lnTo>
                  <a:cubicBezTo>
                    <a:pt x="6425" y="282037"/>
                    <a:pt x="0" y="275612"/>
                    <a:pt x="0" y="267686"/>
                  </a:cubicBezTo>
                  <a:lnTo>
                    <a:pt x="0" y="14351"/>
                  </a:lnTo>
                  <a:cubicBezTo>
                    <a:pt x="0" y="6425"/>
                    <a:pt x="6425" y="0"/>
                    <a:pt x="14351" y="0"/>
                  </a:cubicBezTo>
                  <a:close/>
                </a:path>
              </a:pathLst>
            </a:custGeom>
            <a:solidFill>
              <a:srgbClr val="FFBC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59341" cy="339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33400" y="3390900"/>
            <a:ext cx="12649200" cy="5213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14"/>
              </a:lnSpc>
            </a:pP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Most first-time Indian investors don't avoid the stock market because they lack money — they avoid it because they lack financial literacy. Financial content online is jargon-heavy, mostly in English, and assumes prior knowledge. At the same time, those who do jump in often go straight into high-risk instruments like F&amp;O without understanding downside risk — 93% of over 1 crore individual F&amp;O traders lost an average of ₹2 lakh each between FY22-FY24 (SEBI), with combined losses of ₹1.81 lakh crore. There's no single platform that shows people, in concrete numbers and their own language, how risky their trading choice actually is — before they commit real money.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57400" y="1485900"/>
            <a:ext cx="10300000" cy="966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Times New Roman" panose="02020603050405020304" pitchFamily="18" charset="0"/>
                <a:sym typeface="Aileron Bold"/>
              </a:rPr>
              <a:t>PROBLEM STATEMENT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807957" y="767460"/>
            <a:ext cx="4885396" cy="4376040"/>
          </a:xfrm>
          <a:custGeom>
            <a:avLst/>
            <a:gdLst/>
            <a:ahLst/>
            <a:cxnLst/>
            <a:rect l="l" t="t" r="r" b="b"/>
            <a:pathLst>
              <a:path w="7243413" h="6097636">
                <a:moveTo>
                  <a:pt x="0" y="0"/>
                </a:moveTo>
                <a:lnTo>
                  <a:pt x="7243412" y="0"/>
                </a:lnTo>
                <a:lnTo>
                  <a:pt x="7243412" y="6097637"/>
                </a:lnTo>
                <a:lnTo>
                  <a:pt x="0" y="6097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816" y="1735460"/>
            <a:ext cx="11530483" cy="1553069"/>
            <a:chOff x="0" y="0"/>
            <a:chExt cx="1959341" cy="282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9341" cy="282037"/>
            </a:xfrm>
            <a:custGeom>
              <a:avLst/>
              <a:gdLst/>
              <a:ahLst/>
              <a:cxnLst/>
              <a:rect l="l" t="t" r="r" b="b"/>
              <a:pathLst>
                <a:path w="1959341" h="282037">
                  <a:moveTo>
                    <a:pt x="14351" y="0"/>
                  </a:moveTo>
                  <a:lnTo>
                    <a:pt x="1944990" y="0"/>
                  </a:lnTo>
                  <a:cubicBezTo>
                    <a:pt x="1952916" y="0"/>
                    <a:pt x="1959341" y="6425"/>
                    <a:pt x="1959341" y="14351"/>
                  </a:cubicBezTo>
                  <a:lnTo>
                    <a:pt x="1959341" y="267686"/>
                  </a:lnTo>
                  <a:cubicBezTo>
                    <a:pt x="1959341" y="275612"/>
                    <a:pt x="1952916" y="282037"/>
                    <a:pt x="1944990" y="282037"/>
                  </a:cubicBezTo>
                  <a:lnTo>
                    <a:pt x="14351" y="282037"/>
                  </a:lnTo>
                  <a:cubicBezTo>
                    <a:pt x="6425" y="282037"/>
                    <a:pt x="0" y="275612"/>
                    <a:pt x="0" y="267686"/>
                  </a:cubicBezTo>
                  <a:lnTo>
                    <a:pt x="0" y="14351"/>
                  </a:lnTo>
                  <a:cubicBezTo>
                    <a:pt x="0" y="6425"/>
                    <a:pt x="6425" y="0"/>
                    <a:pt x="14351" y="0"/>
                  </a:cubicBezTo>
                  <a:close/>
                </a:path>
              </a:pathLst>
            </a:custGeom>
            <a:solidFill>
              <a:srgbClr val="55D87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59341" cy="339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3698" y="7605827"/>
            <a:ext cx="17707213" cy="1604848"/>
            <a:chOff x="0" y="0"/>
            <a:chExt cx="5100107" cy="4226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00107" cy="422676"/>
            </a:xfrm>
            <a:custGeom>
              <a:avLst/>
              <a:gdLst/>
              <a:ahLst/>
              <a:cxnLst/>
              <a:rect l="l" t="t" r="r" b="b"/>
              <a:pathLst>
                <a:path w="5100107" h="422676">
                  <a:moveTo>
                    <a:pt x="0" y="0"/>
                  </a:moveTo>
                  <a:lnTo>
                    <a:pt x="5100107" y="0"/>
                  </a:lnTo>
                  <a:lnTo>
                    <a:pt x="5100107" y="422676"/>
                  </a:lnTo>
                  <a:lnTo>
                    <a:pt x="0" y="422676"/>
                  </a:lnTo>
                  <a:close/>
                </a:path>
              </a:pathLst>
            </a:custGeom>
            <a:solidFill>
              <a:srgbClr val="FFBC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5100107" cy="479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28817" y="1209675"/>
            <a:ext cx="5396383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42"/>
              </a:lnSpc>
            </a:pPr>
            <a:r>
              <a:rPr lang="en-US" sz="32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Aileron Bold"/>
                <a:sym typeface="Aileron Bold"/>
              </a:rPr>
              <a:t>PROPOSED 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6400" y="3621067"/>
            <a:ext cx="16335613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000" b="1" u="sng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RomanC" panose="00000400000000000000" pitchFamily="2" charset="0"/>
                <a:sym typeface="Aileron"/>
              </a:rPr>
              <a:t>S</a:t>
            </a:r>
            <a:r>
              <a:rPr lang="en-US" sz="3000" b="1" u="sng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RomanC" panose="00000400000000000000" pitchFamily="2" charset="0"/>
                <a:sym typeface="Aileron Bold"/>
              </a:rPr>
              <a:t>imulate Laye</a:t>
            </a:r>
            <a:r>
              <a:rPr lang="en-US" sz="3000" b="1" u="sng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RomanC" panose="00000400000000000000" pitchFamily="2" charset="0"/>
                <a:sym typeface="Aileron"/>
              </a:rPr>
              <a:t>r</a:t>
            </a:r>
            <a:r>
              <a:rPr lang="en-US" sz="3000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RomanC" panose="00000400000000000000" pitchFamily="2" charset="0"/>
                <a:sym typeface="Aileron"/>
              </a:rPr>
              <a:t>: A working Monte Carlo simulator using real historical Nifty 50 data (sourced via NSE's public historical data / Yahoo Finance API for prototype-stage use), giving users a full probability-of-loss and outcome-range profile for SIP / F&amp;O / mixed portfolios — not a single "expected return" number.</a:t>
            </a:r>
          </a:p>
          <a:p>
            <a:pPr algn="l">
              <a:lnSpc>
                <a:spcPts val="3500"/>
              </a:lnSpc>
            </a:pPr>
            <a:endParaRPr lang="en-US" sz="3000" dirty="0">
              <a:solidFill>
                <a:srgbClr val="000000"/>
              </a:solidFill>
              <a:latin typeface="Aptos" panose="020B0004020202020204" pitchFamily="34" charset="0"/>
              <a:ea typeface="Aileron"/>
              <a:cs typeface="RomanC" panose="00000400000000000000" pitchFamily="2" charset="0"/>
              <a:sym typeface="Aileron"/>
            </a:endParaRPr>
          </a:p>
          <a:p>
            <a:pPr algn="l">
              <a:lnSpc>
                <a:spcPts val="3500"/>
              </a:lnSpc>
            </a:pPr>
            <a:r>
              <a:rPr lang="en-US" sz="3000" b="1" u="sng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RomanC" panose="00000400000000000000" pitchFamily="2" charset="0"/>
                <a:sym typeface="Aileron Bold"/>
              </a:rPr>
              <a:t>Learn Layer</a:t>
            </a:r>
            <a:r>
              <a:rPr lang="en-US" sz="3000" u="sng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RomanC" panose="00000400000000000000" pitchFamily="2" charset="0"/>
                <a:sym typeface="Aileron Bold"/>
              </a:rPr>
              <a:t>:</a:t>
            </a:r>
            <a:r>
              <a:rPr lang="en-US" sz="3000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RomanC" panose="00000400000000000000" pitchFamily="2" charset="0"/>
                <a:sym typeface="Aileron"/>
              </a:rPr>
              <a:t> Short, plain-language micro-learning cards embedded directly in the simulator flow, available in English and Tamil from day one, covering SIPs, index funds, F&amp;O risk, and diversification.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28818" y="1775390"/>
            <a:ext cx="11263782" cy="152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44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Times New Roman" panose="02020603050405020304" pitchFamily="18" charset="0"/>
                <a:sym typeface="Aileron Bold"/>
              </a:rPr>
              <a:t>A quant-powered, vernacular-first platform combining two layers</a:t>
            </a:r>
          </a:p>
        </p:txBody>
      </p:sp>
      <p:sp>
        <p:nvSpPr>
          <p:cNvPr id="14" name="Freeform 14"/>
          <p:cNvSpPr/>
          <p:nvPr/>
        </p:nvSpPr>
        <p:spPr>
          <a:xfrm>
            <a:off x="246281" y="216990"/>
            <a:ext cx="4874217" cy="3192995"/>
          </a:xfrm>
          <a:custGeom>
            <a:avLst/>
            <a:gdLst/>
            <a:ahLst/>
            <a:cxnLst/>
            <a:rect l="l" t="t" r="r" b="b"/>
            <a:pathLst>
              <a:path w="5693623" h="4720531">
                <a:moveTo>
                  <a:pt x="0" y="0"/>
                </a:moveTo>
                <a:lnTo>
                  <a:pt x="5693623" y="0"/>
                </a:lnTo>
                <a:lnTo>
                  <a:pt x="5693623" y="4720531"/>
                </a:lnTo>
                <a:lnTo>
                  <a:pt x="0" y="4720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75987" y="7650512"/>
            <a:ext cx="17554814" cy="1197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We're not competing with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Zerodha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 Varsity or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Groww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 on literacy content — our wedge is the risk simulation engine, which is already built and functional.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638800" y="312791"/>
            <a:ext cx="7010400" cy="94493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75"/>
              </a:lnSpc>
            </a:pPr>
            <a:r>
              <a:rPr lang="en-US" sz="44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Aileron Bold"/>
                <a:sym typeface="Aileron Bold"/>
              </a:rPr>
              <a:t>KEY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id="101" name="Card1 BG"/>
          <p:cNvSpPr/>
          <p:nvPr/>
        </p:nvSpPr>
        <p:spPr>
          <a:xfrm>
            <a:off x="822960" y="1645920"/>
            <a:ext cx="8138160" cy="3863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Card1 Title"/>
          <p:cNvSpPr txBox="1"/>
          <p:nvPr/>
        </p:nvSpPr>
        <p:spPr>
          <a:xfrm>
            <a:off x="1143000" y="1965960"/>
            <a:ext cx="7498080" cy="55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</a:rPr>
              <a:t>📊 Monte Carlo Simulator</a:t>
            </a:r>
          </a:p>
        </p:txBody>
      </p:sp>
      <p:sp>
        <p:nvSpPr>
          <p:cNvPr id="103" name="Card1 Body"/>
          <p:cNvSpPr txBox="1"/>
          <p:nvPr/>
        </p:nvSpPr>
        <p:spPr>
          <a:xfrm>
            <a:off x="1143000" y="2653120"/>
            <a:ext cx="7498080" cy="2536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Uses real Nifty 50 historical data to run thousands of possible market scenarios.</a:t>
            </a:r>
          </a:p>
          <a:p>
            <a:r>
              <a:rPr lang="en-US" sz="2000" b="1" dirty="0">
                <a:solidFill>
                  <a:srgbClr val="FF751F"/>
                </a:solidFill>
                <a:latin typeface="Aptos" panose="020B0004020202020204" pitchFamily="34" charset="0"/>
              </a:rPr>
              <a:t>Scenario-based, not prediction-based</a:t>
            </a:r>
          </a:p>
        </p:txBody>
      </p:sp>
      <p:sp>
        <p:nvSpPr>
          <p:cNvPr id="104" name="Card2 BG"/>
          <p:cNvSpPr/>
          <p:nvPr/>
        </p:nvSpPr>
        <p:spPr>
          <a:xfrm>
            <a:off x="9326880" y="1645920"/>
            <a:ext cx="8138160" cy="3863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Card2 Title"/>
          <p:cNvSpPr txBox="1"/>
          <p:nvPr/>
        </p:nvSpPr>
        <p:spPr>
          <a:xfrm>
            <a:off x="9646920" y="1965960"/>
            <a:ext cx="7498080" cy="55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</a:rPr>
              <a:t>⚠️ Probability of Loss</a:t>
            </a:r>
          </a:p>
        </p:txBody>
      </p:sp>
      <p:sp>
        <p:nvSpPr>
          <p:cNvPr id="106" name="Card2 Body"/>
          <p:cNvSpPr txBox="1"/>
          <p:nvPr/>
        </p:nvSpPr>
        <p:spPr>
          <a:xfrm>
            <a:off x="9646920" y="2653120"/>
            <a:ext cx="7498080" cy="2536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Shows probability of loss, gains, and drawdowns instead of a single return prediction.</a:t>
            </a:r>
          </a:p>
          <a:p>
            <a:r>
              <a:rPr lang="en-US" sz="2000" b="1" dirty="0">
                <a:solidFill>
                  <a:srgbClr val="FF751F"/>
                </a:solidFill>
                <a:latin typeface="Aptos" panose="020B0004020202020204" pitchFamily="34" charset="0"/>
              </a:rPr>
              <a:t>Understand risk, not just returns</a:t>
            </a:r>
          </a:p>
        </p:txBody>
      </p:sp>
      <p:sp>
        <p:nvSpPr>
          <p:cNvPr id="107" name="Card3 BG"/>
          <p:cNvSpPr/>
          <p:nvPr/>
        </p:nvSpPr>
        <p:spPr>
          <a:xfrm>
            <a:off x="822960" y="5875020"/>
            <a:ext cx="8138160" cy="3863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Card3 Title"/>
          <p:cNvSpPr txBox="1"/>
          <p:nvPr/>
        </p:nvSpPr>
        <p:spPr>
          <a:xfrm>
            <a:off x="1143000" y="6195060"/>
            <a:ext cx="7498080" cy="55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</a:rPr>
              <a:t>🔒 F&amp;O Friction Gate</a:t>
            </a:r>
          </a:p>
        </p:txBody>
      </p:sp>
      <p:sp>
        <p:nvSpPr>
          <p:cNvPr id="109" name="Card3 Body"/>
          <p:cNvSpPr txBox="1"/>
          <p:nvPr/>
        </p:nvSpPr>
        <p:spPr>
          <a:xfrm>
            <a:off x="1143000" y="6882220"/>
            <a:ext cx="7498080" cy="2536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An “Are you sure?” checkpoint appears before high-leverage F&amp;O scenarios.</a:t>
            </a:r>
          </a:p>
          <a:p>
            <a:r>
              <a:rPr lang="en-US" sz="2000" b="1" dirty="0">
                <a:solidFill>
                  <a:srgbClr val="FF751F"/>
                </a:solidFill>
                <a:latin typeface="Aptos" panose="020B0004020202020204" pitchFamily="34" charset="0"/>
              </a:rPr>
              <a:t>Pause → Understand → Continue</a:t>
            </a:r>
          </a:p>
        </p:txBody>
      </p:sp>
      <p:sp>
        <p:nvSpPr>
          <p:cNvPr id="110" name="Card4 BG"/>
          <p:cNvSpPr/>
          <p:nvPr/>
        </p:nvSpPr>
        <p:spPr>
          <a:xfrm>
            <a:off x="9326880" y="5875020"/>
            <a:ext cx="8138160" cy="38633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Card4 Title"/>
          <p:cNvSpPr txBox="1"/>
          <p:nvPr/>
        </p:nvSpPr>
        <p:spPr>
          <a:xfrm>
            <a:off x="9646920" y="6195060"/>
            <a:ext cx="7498080" cy="55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</a:rPr>
              <a:t>🌐 Tamil + English Learning</a:t>
            </a:r>
          </a:p>
        </p:txBody>
      </p:sp>
      <p:sp>
        <p:nvSpPr>
          <p:cNvPr id="112" name="Card4 Body"/>
          <p:cNvSpPr txBox="1"/>
          <p:nvPr/>
        </p:nvSpPr>
        <p:spPr>
          <a:xfrm>
            <a:off x="9646920" y="6882220"/>
            <a:ext cx="7498080" cy="2536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Bite-sized Tamil + English lessons explain concepts exactly when users need them.</a:t>
            </a:r>
          </a:p>
          <a:p>
            <a:r>
              <a:rPr lang="en-US" sz="2000" b="1" dirty="0">
                <a:solidFill>
                  <a:srgbClr val="FF751F"/>
                </a:solidFill>
                <a:latin typeface="Aptos" panose="020B0004020202020204" pitchFamily="34" charset="0"/>
              </a:rPr>
              <a:t>Learn → Simulate → Apply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56611" y="931168"/>
            <a:ext cx="7087389" cy="1553069"/>
            <a:chOff x="0" y="0"/>
            <a:chExt cx="1959341" cy="282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9341" cy="282037"/>
            </a:xfrm>
            <a:custGeom>
              <a:avLst/>
              <a:gdLst/>
              <a:ahLst/>
              <a:cxnLst/>
              <a:rect l="l" t="t" r="r" b="b"/>
              <a:pathLst>
                <a:path w="1959341" h="282037">
                  <a:moveTo>
                    <a:pt x="14351" y="0"/>
                  </a:moveTo>
                  <a:lnTo>
                    <a:pt x="1944990" y="0"/>
                  </a:lnTo>
                  <a:cubicBezTo>
                    <a:pt x="1952916" y="0"/>
                    <a:pt x="1959341" y="6425"/>
                    <a:pt x="1959341" y="14351"/>
                  </a:cubicBezTo>
                  <a:lnTo>
                    <a:pt x="1959341" y="267686"/>
                  </a:lnTo>
                  <a:cubicBezTo>
                    <a:pt x="1959341" y="275612"/>
                    <a:pt x="1952916" y="282037"/>
                    <a:pt x="1944990" y="282037"/>
                  </a:cubicBezTo>
                  <a:lnTo>
                    <a:pt x="14351" y="282037"/>
                  </a:lnTo>
                  <a:cubicBezTo>
                    <a:pt x="6425" y="282037"/>
                    <a:pt x="0" y="275612"/>
                    <a:pt x="0" y="267686"/>
                  </a:cubicBezTo>
                  <a:lnTo>
                    <a:pt x="0" y="14351"/>
                  </a:lnTo>
                  <a:cubicBezTo>
                    <a:pt x="0" y="6425"/>
                    <a:pt x="6425" y="0"/>
                    <a:pt x="14351" y="0"/>
                  </a:cubicBezTo>
                  <a:close/>
                </a:path>
              </a:pathLst>
            </a:custGeom>
            <a:solidFill>
              <a:srgbClr val="FFBC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59341" cy="339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91152" y="1082577"/>
            <a:ext cx="1330917" cy="1250251"/>
            <a:chOff x="0" y="0"/>
            <a:chExt cx="241695" cy="2270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695" cy="227046"/>
            </a:xfrm>
            <a:custGeom>
              <a:avLst/>
              <a:gdLst/>
              <a:ahLst/>
              <a:cxnLst/>
              <a:rect l="l" t="t" r="r" b="b"/>
              <a:pathLst>
                <a:path w="241695" h="227046">
                  <a:moveTo>
                    <a:pt x="113523" y="0"/>
                  </a:moveTo>
                  <a:lnTo>
                    <a:pt x="128172" y="0"/>
                  </a:lnTo>
                  <a:cubicBezTo>
                    <a:pt x="190869" y="0"/>
                    <a:pt x="241695" y="50826"/>
                    <a:pt x="241695" y="113523"/>
                  </a:cubicBezTo>
                  <a:lnTo>
                    <a:pt x="241695" y="113523"/>
                  </a:lnTo>
                  <a:cubicBezTo>
                    <a:pt x="241695" y="176220"/>
                    <a:pt x="190869" y="227046"/>
                    <a:pt x="128172" y="227046"/>
                  </a:cubicBezTo>
                  <a:lnTo>
                    <a:pt x="113523" y="227046"/>
                  </a:lnTo>
                  <a:cubicBezTo>
                    <a:pt x="50826" y="227046"/>
                    <a:pt x="0" y="176220"/>
                    <a:pt x="0" y="113523"/>
                  </a:cubicBezTo>
                  <a:lnTo>
                    <a:pt x="0" y="113523"/>
                  </a:lnTo>
                  <a:cubicBezTo>
                    <a:pt x="0" y="50826"/>
                    <a:pt x="50826" y="0"/>
                    <a:pt x="113523" y="0"/>
                  </a:cubicBez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41695" cy="303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>
                  <a:solidFill>
                    <a:srgbClr val="F8F7F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04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2115" y="2917870"/>
            <a:ext cx="13704547" cy="658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Backend: Node.js + Express</a:t>
            </a:r>
          </a:p>
          <a:p>
            <a:pPr algn="l">
              <a:lnSpc>
                <a:spcPts val="4691"/>
              </a:lnSpc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  <a:p>
            <a:pPr algn="l">
              <a:lnSpc>
                <a:spcPts val="4691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Frontend: React + Vite</a:t>
            </a:r>
          </a:p>
          <a:p>
            <a:pPr algn="l">
              <a:lnSpc>
                <a:spcPts val="4691"/>
              </a:lnSpc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  <a:p>
            <a:pPr algn="l">
              <a:lnSpc>
                <a:spcPts val="4691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Data: Historical Nifty 50 data (NSE public data / Yahoo Finance API for prototype; commercial licensing to be evaluated for production)</a:t>
            </a:r>
          </a:p>
          <a:p>
            <a:pPr algn="l">
              <a:lnSpc>
                <a:spcPts val="4691"/>
              </a:lnSpc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  <a:p>
            <a:pPr algn="l">
              <a:lnSpc>
                <a:spcPts val="4691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Simulation Engine: Monte Carlo modeling for portfolio outcome distributions</a:t>
            </a:r>
          </a:p>
          <a:p>
            <a:pPr algn="l">
              <a:lnSpc>
                <a:spcPts val="4691"/>
              </a:lnSpc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  <a:p>
            <a:pPr algn="l">
              <a:lnSpc>
                <a:spcPts val="4691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Future: Regional language expansion beyond Tamil; broker-side API integration for embedded distribution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71508" y="1169222"/>
            <a:ext cx="7545761" cy="90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44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Aileron Bold"/>
                <a:sym typeface="Aileron Bold"/>
              </a:rPr>
              <a:t>Technology Stack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845931" y="1707702"/>
            <a:ext cx="4926209" cy="3596374"/>
          </a:xfrm>
          <a:custGeom>
            <a:avLst/>
            <a:gdLst/>
            <a:ahLst/>
            <a:cxnLst/>
            <a:rect l="l" t="t" r="r" b="b"/>
            <a:pathLst>
              <a:path w="6730999" h="5666277">
                <a:moveTo>
                  <a:pt x="0" y="0"/>
                </a:moveTo>
                <a:lnTo>
                  <a:pt x="6730999" y="0"/>
                </a:lnTo>
                <a:lnTo>
                  <a:pt x="6730999" y="5666277"/>
                </a:lnTo>
                <a:lnTo>
                  <a:pt x="0" y="5666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064" y="3695700"/>
            <a:ext cx="4952999" cy="1223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057"/>
              </a:lnSpc>
            </a:pPr>
            <a:r>
              <a:rPr lang="en-US" sz="44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Aileron Bold"/>
                <a:sym typeface="Aileron Bold"/>
              </a:rPr>
              <a:t>EXPECTED IMPACT</a:t>
            </a:r>
          </a:p>
        </p:txBody>
      </p:sp>
      <p:sp>
        <p:nvSpPr>
          <p:cNvPr id="3" name="Freeform 3"/>
          <p:cNvSpPr/>
          <p:nvPr/>
        </p:nvSpPr>
        <p:spPr>
          <a:xfrm>
            <a:off x="685800" y="7184169"/>
            <a:ext cx="2928021" cy="2844167"/>
          </a:xfrm>
          <a:custGeom>
            <a:avLst/>
            <a:gdLst/>
            <a:ahLst/>
            <a:cxnLst/>
            <a:rect l="l" t="t" r="r" b="b"/>
            <a:pathLst>
              <a:path w="6321701" h="5137819">
                <a:moveTo>
                  <a:pt x="0" y="0"/>
                </a:moveTo>
                <a:lnTo>
                  <a:pt x="6321702" y="0"/>
                </a:lnTo>
                <a:lnTo>
                  <a:pt x="6321702" y="5137818"/>
                </a:lnTo>
                <a:lnTo>
                  <a:pt x="0" y="51378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533400" y="163376"/>
            <a:ext cx="3246904" cy="2377412"/>
          </a:xfrm>
          <a:custGeom>
            <a:avLst/>
            <a:gdLst/>
            <a:ahLst/>
            <a:cxnLst/>
            <a:rect l="l" t="t" r="r" b="b"/>
            <a:pathLst>
              <a:path w="5456704" h="4434812">
                <a:moveTo>
                  <a:pt x="0" y="4434812"/>
                </a:moveTo>
                <a:lnTo>
                  <a:pt x="5456705" y="4434812"/>
                </a:lnTo>
                <a:lnTo>
                  <a:pt x="5456705" y="0"/>
                </a:lnTo>
                <a:lnTo>
                  <a:pt x="0" y="0"/>
                </a:lnTo>
                <a:lnTo>
                  <a:pt x="0" y="44348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57800" y="1714500"/>
            <a:ext cx="12877800" cy="8352934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92113" lvl="1" indent="-246056" algn="l">
              <a:lnSpc>
                <a:spcPct val="118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Lowers the entry barrier to investing for first-time, Tier-2/3 Indian investors, in their own language from day one.</a:t>
            </a:r>
          </a:p>
          <a:p>
            <a:pPr marL="492113" lvl="1" indent="-246056" algn="l">
              <a:lnSpc>
                <a:spcPct val="118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Directly targets a documented, worsening problem: SEBI data shows individual F&amp;O traders' net losses grew 41% to ₹1,05,603 crore in FY25 even after regulatory curbs — the gap isn't closing on its own</a:t>
            </a:r>
          </a:p>
          <a:p>
            <a:pPr marL="492113" lvl="1" indent="-246056" algn="l">
              <a:lnSpc>
                <a:spcPct val="118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Uses probability-based visualization and behavioral nudges to actually shift decisions, not just inform them.</a:t>
            </a:r>
          </a:p>
          <a:p>
            <a:pPr marL="514304" lvl="1" indent="-257152" algn="l">
              <a:lnSpc>
                <a:spcPct val="118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Compliance-by-design: all simulations are framed as illustrative what-if scenarios, not personalized advice — staying clearly within SEBI's Investment Adviser Regulations, 2013 (amended Dec 2024), with disclaimers built into the UI itself.</a:t>
            </a:r>
          </a:p>
          <a:p>
            <a:pPr marL="492113" lvl="1" indent="-246056" algn="l">
              <a:lnSpc>
                <a:spcPct val="118000"/>
              </a:lnSpc>
              <a:spcAft>
                <a:spcPts val="10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Distribution as compliance tooling, not a favor: SEBI has already been pushing brokers toward stronger risk disclosure (2023 guidelines, and newer proposed curbs on derivatives speculation). Our embeddable "pre-trade risk check" widget gives brokers a ready-made way to meet an obligation they'll face regardless — saving them build time rather than asking them to work against their own revenue model.</a:t>
            </a:r>
          </a:p>
          <a:p>
            <a:pPr marL="492113" lvl="1" indent="-246056" algn="l">
              <a:lnSpc>
                <a:spcPct val="118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Monetization: B2B licensing fee to brokers/fintechs for the embeddable compliance widget; free for individual end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863" y="1833378"/>
            <a:ext cx="10789320" cy="1553069"/>
            <a:chOff x="0" y="0"/>
            <a:chExt cx="1959341" cy="282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9341" cy="282037"/>
            </a:xfrm>
            <a:custGeom>
              <a:avLst/>
              <a:gdLst/>
              <a:ahLst/>
              <a:cxnLst/>
              <a:rect l="l" t="t" r="r" b="b"/>
              <a:pathLst>
                <a:path w="1959341" h="282037">
                  <a:moveTo>
                    <a:pt x="14351" y="0"/>
                  </a:moveTo>
                  <a:lnTo>
                    <a:pt x="1944990" y="0"/>
                  </a:lnTo>
                  <a:cubicBezTo>
                    <a:pt x="1952916" y="0"/>
                    <a:pt x="1959341" y="6425"/>
                    <a:pt x="1959341" y="14351"/>
                  </a:cubicBezTo>
                  <a:lnTo>
                    <a:pt x="1959341" y="267686"/>
                  </a:lnTo>
                  <a:cubicBezTo>
                    <a:pt x="1959341" y="275612"/>
                    <a:pt x="1952916" y="282037"/>
                    <a:pt x="1944990" y="282037"/>
                  </a:cubicBezTo>
                  <a:lnTo>
                    <a:pt x="14351" y="282037"/>
                  </a:lnTo>
                  <a:cubicBezTo>
                    <a:pt x="6425" y="282037"/>
                    <a:pt x="0" y="275612"/>
                    <a:pt x="0" y="267686"/>
                  </a:cubicBezTo>
                  <a:lnTo>
                    <a:pt x="0" y="14351"/>
                  </a:lnTo>
                  <a:cubicBezTo>
                    <a:pt x="0" y="6425"/>
                    <a:pt x="6425" y="0"/>
                    <a:pt x="14351" y="0"/>
                  </a:cubicBezTo>
                  <a:close/>
                </a:path>
              </a:pathLst>
            </a:custGeom>
            <a:solidFill>
              <a:srgbClr val="FF505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59341" cy="339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984787"/>
            <a:ext cx="1330917" cy="1250251"/>
            <a:chOff x="0" y="0"/>
            <a:chExt cx="241695" cy="2270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695" cy="227046"/>
            </a:xfrm>
            <a:custGeom>
              <a:avLst/>
              <a:gdLst/>
              <a:ahLst/>
              <a:cxnLst/>
              <a:rect l="l" t="t" r="r" b="b"/>
              <a:pathLst>
                <a:path w="241695" h="227046">
                  <a:moveTo>
                    <a:pt x="113523" y="0"/>
                  </a:moveTo>
                  <a:lnTo>
                    <a:pt x="128172" y="0"/>
                  </a:lnTo>
                  <a:cubicBezTo>
                    <a:pt x="190869" y="0"/>
                    <a:pt x="241695" y="50826"/>
                    <a:pt x="241695" y="113523"/>
                  </a:cubicBezTo>
                  <a:lnTo>
                    <a:pt x="241695" y="113523"/>
                  </a:lnTo>
                  <a:cubicBezTo>
                    <a:pt x="241695" y="176220"/>
                    <a:pt x="190869" y="227046"/>
                    <a:pt x="128172" y="227046"/>
                  </a:cubicBezTo>
                  <a:lnTo>
                    <a:pt x="113523" y="227046"/>
                  </a:lnTo>
                  <a:cubicBezTo>
                    <a:pt x="50826" y="227046"/>
                    <a:pt x="0" y="176220"/>
                    <a:pt x="0" y="113523"/>
                  </a:cubicBezTo>
                  <a:lnTo>
                    <a:pt x="0" y="113523"/>
                  </a:lnTo>
                  <a:cubicBezTo>
                    <a:pt x="0" y="50826"/>
                    <a:pt x="50826" y="0"/>
                    <a:pt x="113523" y="0"/>
                  </a:cubicBez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41695" cy="303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>
                  <a:solidFill>
                    <a:srgbClr val="F8F7F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4024622"/>
            <a:ext cx="11530483" cy="4088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000" dirty="0">
                <a:solidFill>
                  <a:srgbClr val="000000"/>
                </a:solidFill>
                <a:latin typeface="Aptos" panose="020B0004020202020204" pitchFamily="34" charset="0"/>
                <a:ea typeface="Aileron"/>
                <a:cs typeface="Aileron"/>
                <a:sym typeface="Aileron"/>
              </a:rPr>
              <a:t>Most literacy apps stop at "what is a SIP." Most risk tools assume the user already understands markets. This is the only concept combining a real quant risk engine with vernacular-first education in one continuous flow — backed by a working simulation engine, not just a concept. It's also one of the few student pitches that treats regulatory boundaries, distribution economics, and monetization as day-one design decisions rather than gaps to fill in later.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58987" y="2075279"/>
            <a:ext cx="7994289" cy="90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4400" b="1" dirty="0">
                <a:solidFill>
                  <a:srgbClr val="000000"/>
                </a:solidFill>
                <a:latin typeface="Aptos" panose="020B0004020202020204" pitchFamily="34" charset="0"/>
                <a:ea typeface="Aileron Bold"/>
                <a:cs typeface="Aileron Bold"/>
                <a:sym typeface="Aileron Bold"/>
              </a:rPr>
              <a:t>UNIQUENESS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688964" y="1409700"/>
            <a:ext cx="4970001" cy="5744187"/>
          </a:xfrm>
          <a:custGeom>
            <a:avLst/>
            <a:gdLst/>
            <a:ahLst/>
            <a:cxnLst/>
            <a:rect l="l" t="t" r="r" b="b"/>
            <a:pathLst>
              <a:path w="5660635" h="5744187">
                <a:moveTo>
                  <a:pt x="0" y="0"/>
                </a:moveTo>
                <a:lnTo>
                  <a:pt x="5660635" y="0"/>
                </a:lnTo>
                <a:lnTo>
                  <a:pt x="5660635" y="5744187"/>
                </a:lnTo>
                <a:lnTo>
                  <a:pt x="0" y="57441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894111" y="2321737"/>
            <a:ext cx="2351511" cy="1006401"/>
            <a:chOff x="0" y="0"/>
            <a:chExt cx="812800" cy="347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347863"/>
            </a:xfrm>
            <a:custGeom>
              <a:avLst/>
              <a:gdLst/>
              <a:ahLst/>
              <a:cxnLst/>
              <a:rect l="l" t="t" r="r" b="b"/>
              <a:pathLst>
                <a:path w="812800" h="347863">
                  <a:moveTo>
                    <a:pt x="609600" y="0"/>
                  </a:moveTo>
                  <a:cubicBezTo>
                    <a:pt x="721824" y="0"/>
                    <a:pt x="812800" y="77872"/>
                    <a:pt x="812800" y="173931"/>
                  </a:cubicBezTo>
                  <a:cubicBezTo>
                    <a:pt x="812800" y="269991"/>
                    <a:pt x="721824" y="347863"/>
                    <a:pt x="609600" y="347863"/>
                  </a:cubicBezTo>
                  <a:lnTo>
                    <a:pt x="203200" y="347863"/>
                  </a:lnTo>
                  <a:cubicBezTo>
                    <a:pt x="90976" y="347863"/>
                    <a:pt x="0" y="269991"/>
                    <a:pt x="0" y="173931"/>
                  </a:cubicBezTo>
                  <a:cubicBezTo>
                    <a:pt x="0" y="7787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5D87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12800" cy="405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51875" y="2321737"/>
            <a:ext cx="2452981" cy="929680"/>
            <a:chOff x="0" y="0"/>
            <a:chExt cx="920392" cy="3488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0392" cy="348828"/>
            </a:xfrm>
            <a:custGeom>
              <a:avLst/>
              <a:gdLst/>
              <a:ahLst/>
              <a:cxnLst/>
              <a:rect l="l" t="t" r="r" b="b"/>
              <a:pathLst>
                <a:path w="920392" h="348828">
                  <a:moveTo>
                    <a:pt x="717192" y="0"/>
                  </a:moveTo>
                  <a:cubicBezTo>
                    <a:pt x="829416" y="0"/>
                    <a:pt x="920392" y="78088"/>
                    <a:pt x="920392" y="174414"/>
                  </a:cubicBezTo>
                  <a:cubicBezTo>
                    <a:pt x="920392" y="270740"/>
                    <a:pt x="829416" y="348828"/>
                    <a:pt x="717192" y="348828"/>
                  </a:cubicBezTo>
                  <a:lnTo>
                    <a:pt x="203200" y="348828"/>
                  </a:lnTo>
                  <a:cubicBezTo>
                    <a:pt x="90976" y="348828"/>
                    <a:pt x="0" y="270740"/>
                    <a:pt x="0" y="174414"/>
                  </a:cubicBezTo>
                  <a:cubicBezTo>
                    <a:pt x="0" y="7808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C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20392" cy="405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95555" y="2274863"/>
            <a:ext cx="2286484" cy="929680"/>
            <a:chOff x="0" y="0"/>
            <a:chExt cx="1122586" cy="4564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2586" cy="456441"/>
            </a:xfrm>
            <a:custGeom>
              <a:avLst/>
              <a:gdLst/>
              <a:ahLst/>
              <a:cxnLst/>
              <a:rect l="l" t="t" r="r" b="b"/>
              <a:pathLst>
                <a:path w="1122586" h="456441">
                  <a:moveTo>
                    <a:pt x="919386" y="0"/>
                  </a:moveTo>
                  <a:cubicBezTo>
                    <a:pt x="1031610" y="0"/>
                    <a:pt x="1122586" y="102178"/>
                    <a:pt x="1122586" y="228221"/>
                  </a:cubicBezTo>
                  <a:cubicBezTo>
                    <a:pt x="1122586" y="354263"/>
                    <a:pt x="1031610" y="456441"/>
                    <a:pt x="919386" y="456441"/>
                  </a:cubicBezTo>
                  <a:lnTo>
                    <a:pt x="203200" y="456441"/>
                  </a:lnTo>
                  <a:cubicBezTo>
                    <a:pt x="90976" y="456441"/>
                    <a:pt x="0" y="354263"/>
                    <a:pt x="0" y="228221"/>
                  </a:cubicBezTo>
                  <a:cubicBezTo>
                    <a:pt x="0" y="10217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05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122586" cy="513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985991" y="2315237"/>
            <a:ext cx="2367251" cy="923180"/>
            <a:chOff x="0" y="0"/>
            <a:chExt cx="1141401" cy="4451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1401" cy="445123"/>
            </a:xfrm>
            <a:custGeom>
              <a:avLst/>
              <a:gdLst/>
              <a:ahLst/>
              <a:cxnLst/>
              <a:rect l="l" t="t" r="r" b="b"/>
              <a:pathLst>
                <a:path w="1141401" h="445123">
                  <a:moveTo>
                    <a:pt x="938201" y="0"/>
                  </a:moveTo>
                  <a:cubicBezTo>
                    <a:pt x="1050426" y="0"/>
                    <a:pt x="1141401" y="99644"/>
                    <a:pt x="1141401" y="222562"/>
                  </a:cubicBezTo>
                  <a:cubicBezTo>
                    <a:pt x="1141401" y="345479"/>
                    <a:pt x="1050426" y="445123"/>
                    <a:pt x="938201" y="445123"/>
                  </a:cubicBezTo>
                  <a:lnTo>
                    <a:pt x="203200" y="445123"/>
                  </a:lnTo>
                  <a:cubicBezTo>
                    <a:pt x="90976" y="445123"/>
                    <a:pt x="0" y="345479"/>
                    <a:pt x="0" y="222562"/>
                  </a:cubicBezTo>
                  <a:cubicBezTo>
                    <a:pt x="0" y="996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C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141401" cy="502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3462" y="3328138"/>
            <a:ext cx="4845152" cy="6504302"/>
            <a:chOff x="0" y="0"/>
            <a:chExt cx="649521" cy="8968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9521" cy="896816"/>
            </a:xfrm>
            <a:custGeom>
              <a:avLst/>
              <a:gdLst/>
              <a:ahLst/>
              <a:cxnLst/>
              <a:rect l="l" t="t" r="r" b="b"/>
              <a:pathLst>
                <a:path w="649521" h="896816">
                  <a:moveTo>
                    <a:pt x="37799" y="0"/>
                  </a:moveTo>
                  <a:lnTo>
                    <a:pt x="611722" y="0"/>
                  </a:lnTo>
                  <a:cubicBezTo>
                    <a:pt x="632598" y="0"/>
                    <a:pt x="649521" y="16923"/>
                    <a:pt x="649521" y="37799"/>
                  </a:cubicBezTo>
                  <a:lnTo>
                    <a:pt x="649521" y="859016"/>
                  </a:lnTo>
                  <a:cubicBezTo>
                    <a:pt x="649521" y="869041"/>
                    <a:pt x="645539" y="878656"/>
                    <a:pt x="638450" y="885745"/>
                  </a:cubicBezTo>
                  <a:cubicBezTo>
                    <a:pt x="631361" y="892833"/>
                    <a:pt x="621747" y="896816"/>
                    <a:pt x="611722" y="896816"/>
                  </a:cubicBezTo>
                  <a:lnTo>
                    <a:pt x="37799" y="896816"/>
                  </a:lnTo>
                  <a:cubicBezTo>
                    <a:pt x="27774" y="896816"/>
                    <a:pt x="18160" y="892833"/>
                    <a:pt x="11071" y="885745"/>
                  </a:cubicBezTo>
                  <a:cubicBezTo>
                    <a:pt x="3982" y="878656"/>
                    <a:pt x="0" y="869041"/>
                    <a:pt x="0" y="859016"/>
                  </a:cubicBezTo>
                  <a:lnTo>
                    <a:pt x="0" y="37799"/>
                  </a:lnTo>
                  <a:cubicBezTo>
                    <a:pt x="0" y="27774"/>
                    <a:pt x="3982" y="18160"/>
                    <a:pt x="11071" y="11071"/>
                  </a:cubicBezTo>
                  <a:cubicBezTo>
                    <a:pt x="18160" y="3982"/>
                    <a:pt x="27774" y="0"/>
                    <a:pt x="37799" y="0"/>
                  </a:cubicBezTo>
                  <a:close/>
                </a:path>
              </a:pathLst>
            </a:custGeom>
            <a:blipFill>
              <a:blip r:embed="rId2"/>
              <a:stretch>
                <a:fillRect l="-97987" r="-123126" b="936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454496" y="3547214"/>
            <a:ext cx="4896486" cy="6514465"/>
            <a:chOff x="0" y="0"/>
            <a:chExt cx="758594" cy="10092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58594" cy="1009261"/>
            </a:xfrm>
            <a:custGeom>
              <a:avLst/>
              <a:gdLst/>
              <a:ahLst/>
              <a:cxnLst/>
              <a:rect l="l" t="t" r="r" b="b"/>
              <a:pathLst>
                <a:path w="758594" h="1009261">
                  <a:moveTo>
                    <a:pt x="36366" y="0"/>
                  </a:moveTo>
                  <a:lnTo>
                    <a:pt x="722228" y="0"/>
                  </a:lnTo>
                  <a:cubicBezTo>
                    <a:pt x="742312" y="0"/>
                    <a:pt x="758594" y="16281"/>
                    <a:pt x="758594" y="36366"/>
                  </a:cubicBezTo>
                  <a:lnTo>
                    <a:pt x="758594" y="972895"/>
                  </a:lnTo>
                  <a:cubicBezTo>
                    <a:pt x="758594" y="982540"/>
                    <a:pt x="754762" y="991790"/>
                    <a:pt x="747943" y="998610"/>
                  </a:cubicBezTo>
                  <a:cubicBezTo>
                    <a:pt x="741123" y="1005430"/>
                    <a:pt x="731873" y="1009261"/>
                    <a:pt x="722228" y="1009261"/>
                  </a:cubicBezTo>
                  <a:lnTo>
                    <a:pt x="36366" y="1009261"/>
                  </a:lnTo>
                  <a:cubicBezTo>
                    <a:pt x="26721" y="1009261"/>
                    <a:pt x="17471" y="1005430"/>
                    <a:pt x="10651" y="998610"/>
                  </a:cubicBezTo>
                  <a:cubicBezTo>
                    <a:pt x="3831" y="991790"/>
                    <a:pt x="0" y="982540"/>
                    <a:pt x="0" y="972895"/>
                  </a:cubicBezTo>
                  <a:lnTo>
                    <a:pt x="0" y="36366"/>
                  </a:lnTo>
                  <a:cubicBezTo>
                    <a:pt x="0" y="26721"/>
                    <a:pt x="3831" y="17471"/>
                    <a:pt x="10651" y="10651"/>
                  </a:cubicBezTo>
                  <a:cubicBezTo>
                    <a:pt x="17471" y="3831"/>
                    <a:pt x="26721" y="0"/>
                    <a:pt x="36366" y="0"/>
                  </a:cubicBezTo>
                  <a:close/>
                </a:path>
              </a:pathLst>
            </a:custGeom>
            <a:blipFill>
              <a:blip r:embed="rId2"/>
              <a:stretch>
                <a:fillRect l="-83898" r="-91044" b="19465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0369023" y="3557376"/>
            <a:ext cx="4082765" cy="7910723"/>
            <a:chOff x="0" y="0"/>
            <a:chExt cx="646144" cy="100768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6144" cy="1007687"/>
            </a:xfrm>
            <a:custGeom>
              <a:avLst/>
              <a:gdLst/>
              <a:ahLst/>
              <a:cxnLst/>
              <a:rect l="l" t="t" r="r" b="b"/>
              <a:pathLst>
                <a:path w="646144" h="1007687">
                  <a:moveTo>
                    <a:pt x="42695" y="0"/>
                  </a:moveTo>
                  <a:lnTo>
                    <a:pt x="603449" y="0"/>
                  </a:lnTo>
                  <a:cubicBezTo>
                    <a:pt x="614773" y="0"/>
                    <a:pt x="625632" y="4498"/>
                    <a:pt x="633639" y="12505"/>
                  </a:cubicBezTo>
                  <a:cubicBezTo>
                    <a:pt x="641646" y="20512"/>
                    <a:pt x="646144" y="31371"/>
                    <a:pt x="646144" y="42695"/>
                  </a:cubicBezTo>
                  <a:lnTo>
                    <a:pt x="646144" y="964992"/>
                  </a:lnTo>
                  <a:cubicBezTo>
                    <a:pt x="646144" y="976315"/>
                    <a:pt x="641646" y="987175"/>
                    <a:pt x="633639" y="995182"/>
                  </a:cubicBezTo>
                  <a:cubicBezTo>
                    <a:pt x="625632" y="1003188"/>
                    <a:pt x="614773" y="1007687"/>
                    <a:pt x="603449" y="1007687"/>
                  </a:cubicBezTo>
                  <a:lnTo>
                    <a:pt x="42695" y="1007687"/>
                  </a:lnTo>
                  <a:cubicBezTo>
                    <a:pt x="31371" y="1007687"/>
                    <a:pt x="20512" y="1003188"/>
                    <a:pt x="12505" y="995182"/>
                  </a:cubicBezTo>
                  <a:cubicBezTo>
                    <a:pt x="4498" y="987175"/>
                    <a:pt x="0" y="976315"/>
                    <a:pt x="0" y="964992"/>
                  </a:cubicBezTo>
                  <a:lnTo>
                    <a:pt x="0" y="42695"/>
                  </a:lnTo>
                  <a:cubicBezTo>
                    <a:pt x="0" y="31371"/>
                    <a:pt x="4498" y="20512"/>
                    <a:pt x="12505" y="12505"/>
                  </a:cubicBezTo>
                  <a:cubicBezTo>
                    <a:pt x="20512" y="4498"/>
                    <a:pt x="31371" y="0"/>
                    <a:pt x="42695" y="0"/>
                  </a:cubicBezTo>
                  <a:close/>
                </a:path>
              </a:pathLst>
            </a:custGeom>
            <a:blipFill>
              <a:blip r:embed="rId2"/>
              <a:stretch>
                <a:fillRect l="-98499" r="-124292" b="19339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4489240" y="3547215"/>
            <a:ext cx="3476627" cy="8378086"/>
            <a:chOff x="0" y="0"/>
            <a:chExt cx="777084" cy="13746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77084" cy="1374685"/>
            </a:xfrm>
            <a:custGeom>
              <a:avLst/>
              <a:gdLst/>
              <a:ahLst/>
              <a:cxnLst/>
              <a:rect l="l" t="t" r="r" b="b"/>
              <a:pathLst>
                <a:path w="777084" h="1374685">
                  <a:moveTo>
                    <a:pt x="48973" y="0"/>
                  </a:moveTo>
                  <a:lnTo>
                    <a:pt x="728111" y="0"/>
                  </a:lnTo>
                  <a:cubicBezTo>
                    <a:pt x="741100" y="0"/>
                    <a:pt x="753556" y="5160"/>
                    <a:pt x="762740" y="14344"/>
                  </a:cubicBezTo>
                  <a:cubicBezTo>
                    <a:pt x="771925" y="23528"/>
                    <a:pt x="777084" y="35985"/>
                    <a:pt x="777084" y="48973"/>
                  </a:cubicBezTo>
                  <a:lnTo>
                    <a:pt x="777084" y="1325711"/>
                  </a:lnTo>
                  <a:cubicBezTo>
                    <a:pt x="777084" y="1338700"/>
                    <a:pt x="771925" y="1351156"/>
                    <a:pt x="762740" y="1360341"/>
                  </a:cubicBezTo>
                  <a:cubicBezTo>
                    <a:pt x="753556" y="1369525"/>
                    <a:pt x="741100" y="1374685"/>
                    <a:pt x="728111" y="1374685"/>
                  </a:cubicBezTo>
                  <a:lnTo>
                    <a:pt x="48973" y="1374685"/>
                  </a:lnTo>
                  <a:cubicBezTo>
                    <a:pt x="35985" y="1374685"/>
                    <a:pt x="23528" y="1369525"/>
                    <a:pt x="14344" y="1360341"/>
                  </a:cubicBezTo>
                  <a:cubicBezTo>
                    <a:pt x="5160" y="1351156"/>
                    <a:pt x="0" y="1338700"/>
                    <a:pt x="0" y="1325711"/>
                  </a:cubicBezTo>
                  <a:lnTo>
                    <a:pt x="0" y="48973"/>
                  </a:lnTo>
                  <a:cubicBezTo>
                    <a:pt x="0" y="35985"/>
                    <a:pt x="5160" y="23528"/>
                    <a:pt x="14344" y="14344"/>
                  </a:cubicBezTo>
                  <a:cubicBezTo>
                    <a:pt x="23528" y="5160"/>
                    <a:pt x="35985" y="0"/>
                    <a:pt x="48973" y="0"/>
                  </a:cubicBezTo>
                  <a:close/>
                </a:path>
              </a:pathLst>
            </a:custGeom>
            <a:blipFill>
              <a:blip r:embed="rId2"/>
              <a:stretch>
                <a:fillRect l="-81902" r="-86498" b="40873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293047" y="580277"/>
            <a:ext cx="13701907" cy="1351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54"/>
              </a:lnSpc>
            </a:pPr>
            <a:r>
              <a:rPr lang="en-US" sz="94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Roadmap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15096" y="2548522"/>
            <a:ext cx="1909541" cy="49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6"/>
              </a:lnSpc>
            </a:pPr>
            <a:r>
              <a:rPr lang="en-US" sz="34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PHASE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88035" y="2548529"/>
            <a:ext cx="1980661" cy="49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5"/>
              </a:lnSpc>
            </a:pPr>
            <a:r>
              <a:rPr lang="en-US" sz="33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PHASE 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51094" y="2538765"/>
            <a:ext cx="1775407" cy="49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5"/>
              </a:lnSpc>
            </a:pPr>
            <a:r>
              <a:rPr lang="en-US" sz="33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PHASE 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55644" y="2586876"/>
            <a:ext cx="1827945" cy="49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5"/>
              </a:lnSpc>
            </a:pPr>
            <a:r>
              <a:rPr lang="en-US" sz="33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PHASE 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183" y="3619417"/>
            <a:ext cx="4469773" cy="4566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IN" sz="3200" dirty="0">
                <a:latin typeface="Aileron" panose="020B0604020202020204" charset="0"/>
              </a:rPr>
              <a:t>Build core Risk Layer using the Monte Carlo engine. Launch 3–4 learning modules in English + Tamil. Complete compliance review and confirm data licensing.</a:t>
            </a:r>
            <a:endParaRPr lang="en-US" sz="3200" dirty="0">
              <a:solidFill>
                <a:srgbClr val="000000"/>
              </a:solidFill>
              <a:latin typeface="Aileron" panose="020B0604020202020204" charset="0"/>
              <a:ea typeface="Aileron"/>
              <a:cs typeface="Aileron"/>
              <a:sym typeface="Aileron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691576" y="3584008"/>
            <a:ext cx="4659407" cy="3827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40"/>
              </a:lnSpc>
              <a:spcBef>
                <a:spcPct val="0"/>
              </a:spcBef>
            </a:pPr>
            <a:r>
              <a:rPr lang="en-IN" sz="3200" dirty="0">
                <a:latin typeface="Aileron" panose="020B0604020202020204" charset="0"/>
              </a:rPr>
              <a:t>Add SIP vs F&amp;O vs mixed comparison with risk visualizations. Introduce friction gates on high-risk scenarios. Begin broker outreach framed around SEBI compliance</a:t>
            </a:r>
            <a:r>
              <a:rPr lang="en-IN" sz="3200" dirty="0"/>
              <a:t>.</a:t>
            </a:r>
            <a:endParaRPr lang="en-US" sz="3100" dirty="0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407846" y="3546010"/>
            <a:ext cx="4081394" cy="584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78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Upgrade F&amp;O modeling to capture leverage and margin-call risk, not just volatility . Expand vernacular support beyond Tamil; land first pilot broker integration with B2B licensing pricing</a:t>
            </a:r>
          </a:p>
          <a:p>
            <a:pPr algn="just">
              <a:lnSpc>
                <a:spcPts val="4578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Aileron" panose="020B0604020202020204" charset="0"/>
              <a:ea typeface="Aileron"/>
              <a:cs typeface="Aileron"/>
              <a:sym typeface="Ailero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4F276E-3B7F-5923-9B0C-187A4245B1E3}"/>
              </a:ext>
            </a:extLst>
          </p:cNvPr>
          <p:cNvSpPr txBox="1"/>
          <p:nvPr/>
        </p:nvSpPr>
        <p:spPr>
          <a:xfrm>
            <a:off x="14613207" y="3681410"/>
            <a:ext cx="339011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dirty="0">
                <a:latin typeface="Aileron" panose="020B0604020202020204" charset="0"/>
              </a:rPr>
              <a:t>Expand into insurance and tax-saving modules. Scale embedded distribution across partners.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88224" y="3086100"/>
            <a:ext cx="6129530" cy="4934272"/>
          </a:xfrm>
          <a:custGeom>
            <a:avLst/>
            <a:gdLst/>
            <a:ahLst/>
            <a:cxnLst/>
            <a:rect l="l" t="t" r="r" b="b"/>
            <a:pathLst>
              <a:path w="6129530" h="4934272">
                <a:moveTo>
                  <a:pt x="0" y="0"/>
                </a:moveTo>
                <a:lnTo>
                  <a:pt x="6129530" y="0"/>
                </a:lnTo>
                <a:lnTo>
                  <a:pt x="6129530" y="4934272"/>
                </a:lnTo>
                <a:lnTo>
                  <a:pt x="0" y="49342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90079" y="5328727"/>
            <a:ext cx="4242062" cy="4114800"/>
          </a:xfrm>
          <a:custGeom>
            <a:avLst/>
            <a:gdLst/>
            <a:ahLst/>
            <a:cxnLst/>
            <a:rect l="l" t="t" r="r" b="b"/>
            <a:pathLst>
              <a:path w="4242062" h="4114800">
                <a:moveTo>
                  <a:pt x="0" y="0"/>
                </a:moveTo>
                <a:lnTo>
                  <a:pt x="4242062" y="0"/>
                </a:lnTo>
                <a:lnTo>
                  <a:pt x="42420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33608" y="310644"/>
            <a:ext cx="5143500" cy="4114800"/>
          </a:xfrm>
          <a:custGeom>
            <a:avLst/>
            <a:gdLst/>
            <a:ahLst/>
            <a:cxnLst/>
            <a:rect l="l" t="t" r="r" b="b"/>
            <a:pathLst>
              <a:path w="5143500" h="4114800">
                <a:moveTo>
                  <a:pt x="0" y="0"/>
                </a:moveTo>
                <a:lnTo>
                  <a:pt x="5143500" y="0"/>
                </a:lnTo>
                <a:lnTo>
                  <a:pt x="5143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59300" y="9239250"/>
            <a:ext cx="274638" cy="3206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861</Words>
  <Application>Microsoft Office PowerPoint</Application>
  <PresentationFormat>Custom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Arial</vt:lpstr>
      <vt:lpstr>Aptos</vt:lpstr>
      <vt:lpstr>Aileron</vt:lpstr>
      <vt:lpstr>Canva Sans</vt:lpstr>
      <vt:lpstr>Aileron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Literacy &amp; Risk Copilot</dc:title>
  <dc:creator>Aritra</dc:creator>
  <cp:lastModifiedBy>Aritra Das</cp:lastModifiedBy>
  <cp:revision>9</cp:revision>
  <dcterms:created xsi:type="dcterms:W3CDTF">2006-08-16T00:00:00Z</dcterms:created>
  <dcterms:modified xsi:type="dcterms:W3CDTF">2026-08-18T08:38:44Z</dcterms:modified>
  <dc:identifier>DAHSiE4GKxs</dc:identifier>
</cp:coreProperties>
</file>